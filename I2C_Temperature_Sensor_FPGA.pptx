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"/>
            <a:ext cx="91440" cy="91440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0" y="411480"/>
            <a:ext cx="91440" cy="91440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548640"/>
            <a:ext cx="91440" cy="91440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58200" y="685800"/>
            <a:ext cx="91440" cy="91440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822960"/>
            <a:ext cx="91440" cy="91440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15400" y="960120"/>
            <a:ext cx="91440" cy="91440"/>
          </a:xfrm>
          <a:prstGeom prst="ellipse">
            <a:avLst/>
          </a:prstGeom>
          <a:solidFill>
            <a:srgbClr val="00C2FF">
              <a:alpha val="40000"/>
            </a:srgbClr>
          </a:solidFill>
          <a:ln w="12700">
            <a:solidFill>
              <a:srgbClr val="00C2FF">
                <a:alpha val="6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502920"/>
            <a:ext cx="100584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" y="14630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Temperature Sensor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182880" y="24688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Implementation on Nexys A7 · Verilog RTL Design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828800" y="3017520"/>
            <a:ext cx="548640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3246120"/>
            <a:ext cx="1920240" cy="868680"/>
          </a:xfrm>
          <a:prstGeom prst="rect">
            <a:avLst/>
          </a:prstGeom>
          <a:solidFill>
            <a:srgbClr val="1A2F5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7"/>
                </a:solidFill>
              </a:rPr>
              <a:t>Protocol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538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B3"/>
                </a:solidFill>
              </a:rPr>
              <a:t>I²C (400kHz)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560320" y="3246120"/>
            <a:ext cx="1920240" cy="868680"/>
          </a:xfrm>
          <a:prstGeom prst="rect">
            <a:avLst/>
          </a:prstGeom>
          <a:solidFill>
            <a:srgbClr val="1A2F5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6032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7"/>
                </a:solidFill>
              </a:rPr>
              <a:t>Sensor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60320" y="3538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B3"/>
                </a:solidFill>
              </a:rPr>
              <a:t>TMP102 / Digilent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63440" y="3246120"/>
            <a:ext cx="1920240" cy="868680"/>
          </a:xfrm>
          <a:prstGeom prst="rect">
            <a:avLst/>
          </a:prstGeom>
          <a:solidFill>
            <a:srgbClr val="1A2F5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7"/>
                </a:solidFill>
              </a:rPr>
              <a:t>FPGA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663440" y="3538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B3"/>
                </a:solidFill>
              </a:rPr>
              <a:t>Nexys A7-100T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766560" y="3246120"/>
            <a:ext cx="1920240" cy="868680"/>
          </a:xfrm>
          <a:prstGeom prst="rect">
            <a:avLst/>
          </a:prstGeom>
          <a:solidFill>
            <a:srgbClr val="1A2F50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C7"/>
                </a:solidFill>
              </a:rPr>
              <a:t>Language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6560" y="3538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B3"/>
                </a:solidFill>
              </a:rPr>
              <a:t>Verilog HDL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DC7"/>
                </a:solidFill>
              </a:rPr>
              <a:t>Communication Systems Laboratory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DC7"/>
                </a:solidFill>
              </a:rPr>
              <a:t>Four hardware modules cooperate across two clock domains to acquire and display temperature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463040" cy="1371600"/>
          </a:xfrm>
          <a:prstGeom prst="rect">
            <a:avLst/>
          </a:prstGeom>
          <a:solidFill>
            <a:srgbClr val="1B3A6B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TMP102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Sensor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2011680" cy="1920240"/>
          </a:xfrm>
          <a:prstGeom prst="rect">
            <a:avLst/>
          </a:prstGeom>
          <a:solidFill>
            <a:srgbClr val="1A2F50"/>
          </a:solidFill>
          <a:ln w="25400">
            <a:solidFill>
              <a:srgbClr val="00C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371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i2c_master.v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801368"/>
            <a:ext cx="192024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FSM: 28 states
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SCL: 10 kHz
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SDA: bidirectional
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Addr: 0x97 (read)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1828800" cy="914400"/>
          </a:xfrm>
          <a:prstGeom prst="rect">
            <a:avLst/>
          </a:prstGeom>
          <a:solidFill>
            <a:srgbClr val="1A2F50"/>
          </a:solidFill>
          <a:ln w="25400">
            <a:solidFill>
              <a:srgbClr val="00FFB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B3"/>
                </a:solidFill>
              </a:rPr>
              <a:t>clkgen_200kHz.v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17190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100MHz ÷ 500 = 200kHz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514600"/>
            <a:ext cx="1828800" cy="777240"/>
          </a:xfrm>
          <a:prstGeom prst="rect">
            <a:avLst/>
          </a:prstGeom>
          <a:solidFill>
            <a:srgbClr val="1A2F50"/>
          </a:solidFill>
          <a:ln w="25400">
            <a:solidFill>
              <a:srgbClr val="00FF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514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B3"/>
                </a:solidFill>
              </a:rPr>
              <a:t>seg7.v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85292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BCD decode + multiplex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2377440" cy="1920240"/>
          </a:xfrm>
          <a:prstGeom prst="rect">
            <a:avLst/>
          </a:prstGeom>
          <a:solidFill>
            <a:srgbClr val="1B3A6B"/>
          </a:solidFill>
          <a:ln w="12700">
            <a:solidFill>
              <a:srgbClr val="8BAD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371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Nexys A7 FPGA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1755648"/>
            <a:ext cx="2286000" cy="13258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● 7-Seg Display (XX°C)
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● 8 LEDs (binary temp)
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● CLK: 100 MHz
</a:t>
            </a:r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● Reset: BTN-C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7360" y="2286000"/>
            <a:ext cx="274320" cy="0"/>
          </a:xfrm>
          <a:prstGeom prst="line">
            <a:avLst/>
          </a:prstGeom>
          <a:noFill/>
          <a:ln w="254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20848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FF"/>
                </a:solidFill>
              </a:rPr>
              <a:t>SDA/SCL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023360" y="1783080"/>
            <a:ext cx="274320" cy="0"/>
          </a:xfrm>
          <a:prstGeom prst="line">
            <a:avLst/>
          </a:prstGeom>
          <a:noFill/>
          <a:ln w="19050">
            <a:solidFill>
              <a:srgbClr val="00FFB3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65760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FFB3"/>
                </a:solidFill>
              </a:rPr>
              <a:t>200kHz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023360" y="2834640"/>
            <a:ext cx="27432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520440" y="26517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FF"/>
                </a:solidFill>
              </a:rPr>
              <a:t>temp[7:0]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274320" cy="0"/>
          </a:xfrm>
          <a:prstGeom prst="line">
            <a:avLst/>
          </a:prstGeom>
          <a:noFill/>
          <a:ln w="19050">
            <a:solidFill>
              <a:srgbClr val="00FF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828800"/>
            <a:ext cx="274320" cy="0"/>
          </a:xfrm>
          <a:prstGeom prst="line">
            <a:avLst/>
          </a:prstGeom>
          <a:noFill/>
          <a:ln w="19050">
            <a:solidFill>
              <a:srgbClr val="00FF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331720"/>
            <a:ext cx="27432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2FF"/>
                </a:solidFill>
              </a:rPr>
              <a:t>8-bit temp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60520" y="420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C7"/>
                </a:solidFill>
              </a:rPr>
              <a:t>100 MHz Domain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828800" y="4480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FF"/>
                </a:solidFill>
              </a:rPr>
              <a:t>Clock div →  200kHz  →  ÷10  →  10kHz SCL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Protocol — Core Concepts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DC7"/>
                </a:solidFill>
              </a:rPr>
              <a:t>Two-wire serial bus · Open-drain topology · Master-slave architecture · ACK/NACK handshake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7160" y="1051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SCL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" y="16002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B3"/>
                </a:solidFill>
              </a:rPr>
              <a:t>SDA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813816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2184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72184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9928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9928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7672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7672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85416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85416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23160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60904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60904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98648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98648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36392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36392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74136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74136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1880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9624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9624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87368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87368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25112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62856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62856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38344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38344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76088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76088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13832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13832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51576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51576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9320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89320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27064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27064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64808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64808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02552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02552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0296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0296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78040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78040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15784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15784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653528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53528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891272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91272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29016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129016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366760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66760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04504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04504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842248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42248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79992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79992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317736" y="1051560"/>
            <a:ext cx="0" cy="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317736" y="137160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555480" y="1371600"/>
            <a:ext cx="0" cy="-32004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555480" y="1051560"/>
            <a:ext cx="237744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85800" y="1645920"/>
            <a:ext cx="8138160" cy="0"/>
          </a:xfrm>
          <a:prstGeom prst="line">
            <a:avLst/>
          </a:prstGeom>
          <a:noFill/>
          <a:ln w="19050">
            <a:solidFill>
              <a:srgbClr val="00FFB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68680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68680" y="1965960"/>
            <a:ext cx="228600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234440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34440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709928" y="196596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09928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185416" y="196596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85416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660904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660904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136392" y="196596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136392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611880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611880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87368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087368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562856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38344" y="1965960"/>
            <a:ext cx="475488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038344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513832" y="1965960"/>
            <a:ext cx="0" cy="-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513832" y="196596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513832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196596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989320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464808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64808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940296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940296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15784" y="196596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415784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91272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891272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366760" y="196596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366760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842248" y="1645920"/>
            <a:ext cx="475488" cy="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842248" y="1645920"/>
            <a:ext cx="0" cy="320040"/>
          </a:xfrm>
          <a:prstGeom prst="line">
            <a:avLst/>
          </a:prstGeom>
          <a:noFill/>
          <a:ln w="25400">
            <a:solidFill>
              <a:srgbClr val="00FFB3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21792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START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1051560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7-bit Address (0x4B)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4389120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2FF"/>
                </a:solidFill>
              </a:rPr>
              <a:t>R/W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4846320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35"/>
                </a:solidFill>
              </a:rPr>
              <a:t>ACK↓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5349240" y="21214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FFB3"/>
                </a:solidFill>
              </a:rPr>
              <a:t>8-bit MSB Data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201168" y="2331720"/>
            <a:ext cx="2103120" cy="2651760"/>
          </a:xfrm>
          <a:prstGeom prst="rect">
            <a:avLst/>
          </a:prstGeom>
          <a:solidFill>
            <a:srgbClr val="1A2F50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01168" y="2331720"/>
            <a:ext cx="2103120" cy="384048"/>
          </a:xfrm>
          <a:prstGeom prst="rect">
            <a:avLst/>
          </a:prstGeom>
          <a:solidFill>
            <a:srgbClr val="00C2FF">
              <a:alpha val="7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74320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Open-Drain Bus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292608" y="280720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Both SDA and SCL are open-drain — devices can only pull low. A pull-up resistor holds the line HIGH when idle. This enables wired-AND logic and safe multi-master contention.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2423160" y="2331720"/>
            <a:ext cx="2103120" cy="2651760"/>
          </a:xfrm>
          <a:prstGeom prst="rect">
            <a:avLst/>
          </a:prstGeom>
          <a:solidFill>
            <a:srgbClr val="1A2F50"/>
          </a:solidFill>
          <a:ln w="19050">
            <a:solidFill>
              <a:srgbClr val="00FFB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23160" y="2331720"/>
            <a:ext cx="2103120" cy="384048"/>
          </a:xfrm>
          <a:prstGeom prst="rect">
            <a:avLst/>
          </a:prstGeom>
          <a:solidFill>
            <a:srgbClr val="00FFB3">
              <a:alpha val="70000"/>
            </a:srgbClr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496312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/ STOP Conditions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2514600" y="280720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START = SDA falls while SCL is HIGH. STOP = SDA rises while SCL is HIGH. These are the only SDA transitions allowed on a HIGH clock — unique bus framing markers.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4645152" y="2331720"/>
            <a:ext cx="2103120" cy="2651760"/>
          </a:xfrm>
          <a:prstGeom prst="rect">
            <a:avLst/>
          </a:prstGeom>
          <a:solidFill>
            <a:srgbClr val="1A2F5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645152" y="2331720"/>
            <a:ext cx="2103120" cy="384048"/>
          </a:xfrm>
          <a:prstGeom prst="rect">
            <a:avLst/>
          </a:prstGeom>
          <a:solidFill>
            <a:srgbClr val="FF6B35">
              <a:alpha val="7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718304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Address + ACK Frame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4736592" y="280720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Master transmits 7-bit slave address + R/W̄ bit (8 total). Addressed slave pulls SDA LOW in the 9th clock cycle — the ACK. NACK (SDA stays HIGH) means no response.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6867144" y="2331720"/>
            <a:ext cx="2103120" cy="2651760"/>
          </a:xfrm>
          <a:prstGeom prst="rect">
            <a:avLst/>
          </a:prstGeom>
          <a:solidFill>
            <a:srgbClr val="1A2F50"/>
          </a:solidFill>
          <a:ln w="19050">
            <a:solidFill>
              <a:srgbClr val="8BADC7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867144" y="2331720"/>
            <a:ext cx="2103120" cy="384048"/>
          </a:xfrm>
          <a:prstGeom prst="rect">
            <a:avLst/>
          </a:prstGeom>
          <a:solidFill>
            <a:srgbClr val="8BADC7">
              <a:alpha val="70000"/>
            </a:srgbClr>
          </a:solidFill>
          <a:ln w="12700">
            <a:solidFill>
              <a:srgbClr val="8BADC7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940296" y="23774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Clock Stretching</a:t>
            </a:r>
            <a:endParaRPr lang="en-US" sz="1100" dirty="0"/>
          </a:p>
        </p:txBody>
      </p:sp>
      <p:sp>
        <p:nvSpPr>
          <p:cNvPr id="137" name="Text 135"/>
          <p:cNvSpPr/>
          <p:nvPr/>
        </p:nvSpPr>
        <p:spPr>
          <a:xfrm>
            <a:off x="6958584" y="2807208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A slow slave can hold SCL LOW to pause the master. The master must detect SCL held low and wait before proceeding. Not implemented here — sensor responds within one SCL period.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Master — Finite State Machine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DC7"/>
                </a:solidFill>
              </a:rPr>
              <a:t>28 states synchronized to 200 kHz clock · counter-gated transitions · bidirectional SDA control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8813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POWER_UP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71600" y="1399032"/>
            <a:ext cx="0" cy="82296"/>
          </a:xfrm>
          <a:prstGeom prst="line">
            <a:avLst/>
          </a:prstGeom>
          <a:noFill/>
          <a:ln w="12700">
            <a:solidFill>
              <a:srgbClr val="8BAD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10642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Wait 2000 clocks for sensor rail to stabilize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481328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FF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51790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71600" y="1828800"/>
            <a:ext cx="0" cy="82296"/>
          </a:xfrm>
          <a:prstGeom prst="line">
            <a:avLst/>
          </a:prstGeom>
          <a:noFill/>
          <a:ln w="12700">
            <a:solidFill>
              <a:srgbClr val="8BAD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536192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Assert SDA↓ while SCL HIGH; wait ¼ period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911096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94767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SEND_ADDR[6:0]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1600" y="2258568"/>
            <a:ext cx="0" cy="82296"/>
          </a:xfrm>
          <a:prstGeom prst="line">
            <a:avLst/>
          </a:prstGeom>
          <a:noFill/>
          <a:ln w="12700">
            <a:solidFill>
              <a:srgbClr val="8BAD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9659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Shift out 7 bits of address 0x4B MSB-first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340864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FF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37744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SEND_RW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71600" y="2688336"/>
            <a:ext cx="0" cy="82296"/>
          </a:xfrm>
          <a:prstGeom prst="line">
            <a:avLst/>
          </a:prstGeom>
          <a:noFill/>
          <a:ln w="12700">
            <a:solidFill>
              <a:srgbClr val="8BAD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2395728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Send R/W̄ = 1 (read operation)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770632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8072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REC_ACK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371600" y="3118104"/>
            <a:ext cx="0" cy="82296"/>
          </a:xfrm>
          <a:prstGeom prst="line">
            <a:avLst/>
          </a:prstGeom>
          <a:noFill/>
          <a:ln w="12700">
            <a:solidFill>
              <a:srgbClr val="8BAD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825496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Release SDA; check slave pulls it 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200400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FF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2369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REC_MSB[7:0]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371600" y="3547872"/>
            <a:ext cx="0" cy="82296"/>
          </a:xfrm>
          <a:prstGeom prst="line">
            <a:avLst/>
          </a:prstGeom>
          <a:noFill/>
          <a:ln w="12700">
            <a:solidFill>
              <a:srgbClr val="8BAD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25526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Sample 8 bits of temperature MSB byte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630168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66674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SEND_ACK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371600" y="3977640"/>
            <a:ext cx="0" cy="82296"/>
          </a:xfrm>
          <a:prstGeom prst="line">
            <a:avLst/>
          </a:prstGeom>
          <a:noFill/>
          <a:ln w="12700">
            <a:solidFill>
              <a:srgbClr val="8BAD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3685032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Master drives SDA LOW → ACK to sensor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4059936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FFB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409651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REC_LSB[7:0]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371600" y="4407408"/>
            <a:ext cx="0" cy="82296"/>
          </a:xfrm>
          <a:prstGeom prst="line">
            <a:avLst/>
          </a:prstGeom>
          <a:noFill/>
          <a:ln w="12700">
            <a:solidFill>
              <a:srgbClr val="8BAD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411480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Sample 8 bits of temperature LSB byte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4489704"/>
            <a:ext cx="2286000" cy="347472"/>
          </a:xfrm>
          <a:prstGeom prst="rect">
            <a:avLst/>
          </a:prstGeom>
          <a:solidFill>
            <a:srgbClr val="1A2F50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" y="45262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NACK + Restart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606040" y="4544568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Master sends NACK; latch data; restart loop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9728" y="1051560"/>
            <a:ext cx="0" cy="3456432"/>
          </a:xfrm>
          <a:prstGeom prst="line">
            <a:avLst/>
          </a:prstGeom>
          <a:noFill/>
          <a:ln w="25400">
            <a:solidFill>
              <a:srgbClr val="FF6B35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9144" y="246888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↺ Continuous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6B35"/>
                </a:solidFill>
              </a:rPr>
              <a:t>polling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06040" y="4160520"/>
            <a:ext cx="6263640" cy="777240"/>
          </a:xfrm>
          <a:prstGeom prst="rect">
            <a:avLst/>
          </a:prstGeom>
          <a:solidFill>
            <a:srgbClr val="0D1E3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15768" y="4224528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3"/>
                </a:solidFill>
              </a:rPr>
              <a:t>⏱  Timing Logic:  Counter ticks at 200 kHz (5 µs/tick). Each state transitions on a specific count value separated by 20 ticks = exactly one 10 kHz SCL period. SDA is driven ¼ cycle after SCL edge to meet I²C setup/hold time.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Hierarchy &amp; Frequency Division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60320" cy="3200400"/>
          </a:xfrm>
          <a:prstGeom prst="rect">
            <a:avLst/>
          </a:prstGeom>
          <a:solidFill>
            <a:srgbClr val="1A2F5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100 MHz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2286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C7"/>
                </a:solidFill>
              </a:rPr>
              <a:t>Nexys A7 Crystal Oscillator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Module: clkgen_200kHz.v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counter counts to 4999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toggle at rollover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2148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÷ 500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27248" y="2331720"/>
            <a:ext cx="256032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960120"/>
            <a:ext cx="2560320" cy="3200400"/>
          </a:xfrm>
          <a:prstGeom prst="rect">
            <a:avLst/>
          </a:prstGeom>
          <a:solidFill>
            <a:srgbClr val="1A2F50"/>
          </a:solidFill>
          <a:ln w="25400">
            <a:solidFill>
              <a:srgbClr val="00C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FF"/>
                </a:solidFill>
              </a:rPr>
              <a:t>200 kHz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566160" y="1737360"/>
            <a:ext cx="2286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C7"/>
                </a:solidFill>
              </a:rPr>
              <a:t>Generated intermediate clock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Module: i2c_master.v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counter counts to 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toggle at rollover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2148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</a:rPr>
              <a:t>÷ 20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07608" y="2331720"/>
            <a:ext cx="256032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960120"/>
            <a:ext cx="2560320" cy="3200400"/>
          </a:xfrm>
          <a:prstGeom prst="rect">
            <a:avLst/>
          </a:prstGeom>
          <a:solidFill>
            <a:srgbClr val="1A2F50"/>
          </a:solidFill>
          <a:ln w="25400">
            <a:solidFill>
              <a:srgbClr val="00FF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B3"/>
                </a:solidFill>
              </a:rPr>
              <a:t>10 kHz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6446520" y="1737360"/>
            <a:ext cx="2286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810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DC7"/>
                </a:solidFill>
              </a:rPr>
              <a:t>SCL — I²C bus clock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240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B3"/>
                </a:solidFill>
              </a:rPr>
              <a:t>Module: Sensor interface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Drives TMP102 SCL pin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I²C standard compliant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8046720" cy="594360"/>
          </a:xfrm>
          <a:prstGeom prst="rect">
            <a:avLst/>
          </a:prstGeom>
          <a:solidFill>
            <a:srgbClr val="0D1E35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B3"/>
                </a:solidFill>
              </a:rPr>
              <a:t>100 MHz  ÷  (2 × 250)  =  200 kHz      |      200 kHz  ÷  (2 × 10)  =  10 kHz SCL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" y="68580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C7"/>
                </a:solidFill>
              </a:rPr>
              <a:t>Why 200 kHz intermediate? — SCL needs ¼-period SDA setup time. 200 kHz gives 5 µs ticks; 20 ticks = 10 kHz SCL period; 5 ticks = setup margin.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Bidirectionality &amp; Data Extraction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DC7"/>
                </a:solidFill>
              </a:rPr>
              <a:t>The single SDA wire changes direction dynamically — controlled by the FSM state register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FF"/>
                </a:solidFill>
              </a:rPr>
              <a:t>Tristate SDA Control Logic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353312"/>
            <a:ext cx="4206240" cy="2331720"/>
          </a:xfrm>
          <a:prstGeom prst="rect">
            <a:avLst/>
          </a:prstGeom>
          <a:solidFill>
            <a:srgbClr val="090E1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SDA_dir = (state == POWER_UP ||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00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state == START ||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956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state == SEND_ADDR* ||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state == SEND_ACK ||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state == NACK) ? 1 : 0;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9809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SDA = SDA_dir ? o_bit : 1'bz;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2369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i_bit = SDA;  // always monitor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53312"/>
            <a:ext cx="4251960" cy="868680"/>
          </a:xfrm>
          <a:prstGeom prst="rect">
            <a:avLst/>
          </a:prstGeom>
          <a:solidFill>
            <a:srgbClr val="1A2F50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4081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SDA_dir = 1 → MASTER transmits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70078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FSM asserts o_bit onto wire. Slave sees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13432"/>
            <a:ext cx="4251960" cy="868680"/>
          </a:xfrm>
          <a:prstGeom prst="rect">
            <a:avLst/>
          </a:prstGeom>
          <a:solidFill>
            <a:srgbClr val="1A2F50"/>
          </a:solidFill>
          <a:ln w="19050">
            <a:solidFill>
              <a:srgbClr val="00FF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6829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B3"/>
                </a:solidFill>
              </a:rPr>
              <a:t>SDA_dir = 0 → MASTER receives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66090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SDA driven to high-Z (1'bz). Slave can pull LOW. i_bit samples the line.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273552"/>
            <a:ext cx="4251960" cy="868680"/>
          </a:xfrm>
          <a:prstGeom prst="rect">
            <a:avLst/>
          </a:prstGeom>
          <a:solidFill>
            <a:srgbClr val="1A2F5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32841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Wired-AND resolution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62102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If master outputs 'z' and slave pulls LOW, SDA = LOW. This is how ACK is physically received.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3749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3"/>
                </a:solidFill>
              </a:rPr>
              <a:t>Temperature Data Assembly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4069080"/>
            <a:ext cx="8686800" cy="841248"/>
          </a:xfrm>
          <a:prstGeom prst="rect">
            <a:avLst/>
          </a:prstGeom>
          <a:solidFill>
            <a:srgbClr val="0D1E35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14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TMP102 returns 12-bit two's-complement temperature in 16 bits (MSB byte + LSB byte).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F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temp_data_reg &lt;= { tMSB[6:0], tLSB[7] };   // 8-bit resolution: bits [14:7] of raw word = integer °C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" y="4892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ADC7"/>
                </a:solidFill>
              </a:rPr>
              <a:t>tMSB[7] is the sign bit (discarded for positive temps). tLSB[7] is the 0.5°C fractional bit — included for rounding, then displayed as integer.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FFB3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7-Segment Display Controller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6217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DC7"/>
                </a:solidFill>
              </a:rPr>
              <a:t>Multiplexed persistence-of-vision · BCD decode in hardware · 4 ms refresh cycle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960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B3"/>
                </a:solidFill>
              </a:rPr>
              <a:t>Digit Assignment (anode_select)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206240" cy="658368"/>
          </a:xfrm>
          <a:prstGeom prst="rect">
            <a:avLst/>
          </a:prstGeom>
          <a:solidFill>
            <a:srgbClr val="1A2F50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807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AN=2'b00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380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C (Celsius symbol)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6733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seg=100_0110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075688"/>
            <a:ext cx="4206240" cy="658368"/>
          </a:xfrm>
          <a:prstGeom prst="rect">
            <a:avLst/>
          </a:prstGeom>
          <a:solidFill>
            <a:srgbClr val="1A2F50"/>
          </a:solidFill>
          <a:ln w="1524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305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AN=2'b01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° (degree symbol)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423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seg=001_1100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825496"/>
            <a:ext cx="4206240" cy="658368"/>
          </a:xfrm>
          <a:prstGeom prst="rect">
            <a:avLst/>
          </a:prstGeom>
          <a:solidFill>
            <a:srgbClr val="1A2F50"/>
          </a:solidFill>
          <a:ln w="15240">
            <a:solidFill>
              <a:srgbClr val="00FF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80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B3"/>
                </a:solidFill>
              </a:rPr>
              <a:t>AN=2'b10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ones digit (temp%10)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1729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seg=lookup table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575304"/>
            <a:ext cx="4206240" cy="658368"/>
          </a:xfrm>
          <a:prstGeom prst="rect">
            <a:avLst/>
          </a:prstGeom>
          <a:solidFill>
            <a:srgbClr val="1A2F50"/>
          </a:solidFill>
          <a:ln w="15240">
            <a:solidFill>
              <a:srgbClr val="00FFB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30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B3"/>
                </a:solidFill>
              </a:rPr>
              <a:t>AN=2'b11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3630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tens digit (temp/10)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39227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seg=lookup table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960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Multiplexing Timing Logic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325880"/>
            <a:ext cx="4251960" cy="2331720"/>
          </a:xfrm>
          <a:prstGeom prst="rect">
            <a:avLst/>
          </a:prstGeom>
          <a:solidFill>
            <a:srgbClr val="090E1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4356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1ms per digit (4ms total refresh)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167335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if(anode_timer == 99_999) begin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19110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anode_timer &lt;= 0;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1488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anode_select &lt;= anode_select + 1;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23865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6243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28620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 MHz × 10ns = 1 tick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09981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100,000 ticks = 1 ms per digit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3337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 digits × 1ms = 4ms = 250 Hz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703320"/>
            <a:ext cx="4251960" cy="1234440"/>
          </a:xfrm>
          <a:prstGeom prst="rect">
            <a:avLst/>
          </a:prstGeom>
          <a:solidFill>
            <a:srgbClr val="1A2F5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7673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Hardware Division (No Division Unit!)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059936"/>
            <a:ext cx="4069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tens = temp_data / 10  →  Verilog synthesizes this as a combinatorial divider (shift-subtract). No dedicated divide block — the synthesizer infers a ripple-borrow circuit from the / operator on 8-bit wires.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" y="4370832"/>
            <a:ext cx="4206240" cy="594360"/>
          </a:xfrm>
          <a:prstGeom prst="rect">
            <a:avLst/>
          </a:prstGeom>
          <a:solidFill>
            <a:srgbClr val="0D1E35"/>
          </a:solidFill>
          <a:ln w="12700">
            <a:solidFill>
              <a:srgbClr val="00FFB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1655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D"/>
                </a:solidFill>
              </a:rPr>
              <a:t>Segment encoding: 7-bit active-LOW — bit[6]=a, bit[5]=b … bit[0]=g. '0' lights a segment, '1' turns it off. Pattern 100_0000 = digit 0 (all except segment g).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32344"/>
          </a:solidFill>
          <a:ln w="12700">
            <a:solidFill>
              <a:srgbClr val="1323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32004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1168" y="1508760"/>
            <a:ext cx="2834640" cy="1600200"/>
          </a:xfrm>
          <a:prstGeom prst="rect">
            <a:avLst/>
          </a:prstGeom>
          <a:solidFill>
            <a:srgbClr val="1A2F50"/>
          </a:solidFill>
          <a:ln w="25400">
            <a:solidFill>
              <a:srgbClr val="00FF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B3"/>
                </a:solidFill>
              </a:rPr>
              <a:t>✓ I²C Fully Implemented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Start, address frame, ACK, 16-bit read, NACK, restart cycle — all in hardware FSM.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72968" y="1508760"/>
            <a:ext cx="2834640" cy="1600200"/>
          </a:xfrm>
          <a:prstGeom prst="rect">
            <a:avLst/>
          </a:prstGeom>
          <a:solidFill>
            <a:srgbClr val="1A2F50"/>
          </a:solidFill>
          <a:ln w="254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✓ Real-Time Display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64408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4 ms refresh via multiplexed 7-segment. Reads update continuously — no buffering lag.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44768" y="1508760"/>
            <a:ext cx="2834640" cy="1600200"/>
          </a:xfrm>
          <a:prstGeom prst="rect">
            <a:avLst/>
          </a:prstGeom>
          <a:solidFill>
            <a:srgbClr val="1A2F50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✓ FPGA Demonstrated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208" y="2011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D"/>
                </a:solidFill>
              </a:rPr>
              <a:t>Bitstream loaded on Nexys A7. Room temperature correctly shown on display and LEDs.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" y="3246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FF"/>
                </a:solidFill>
              </a:rPr>
              <a:t>Communication Engineering Insights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9728" y="3657600"/>
            <a:ext cx="146304" cy="1463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630168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→  Open-drain bus topology inherently prevents bus contention — any device can assert low without shorting a driven-high line.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" y="3666744"/>
            <a:ext cx="146304" cy="1463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922776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→  SDA setup/hold relative to SCL is the core timing constraint — the 200 kHz intermediate clock provides deterministic 5 µs ticks for precise ¼-period margins.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9728" y="3675888"/>
            <a:ext cx="146304" cy="1463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4215384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→  ACK/NACK is a wired-AND pull-down — slave participation is passive; the master simply observes whether its own HIGH is overridden.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9728" y="3685032"/>
            <a:ext cx="146304" cy="14630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4507992"/>
            <a:ext cx="8641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D"/>
                </a:solidFill>
              </a:rPr>
              <a:t>→  State machine counter-gating is a reliable synchronization strategy when two sub-clocks must maintain a phase relationship.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I2C Temperature Sensor – FPGA Implementation</dc:title>
  <dc:subject>PptxGenJS Presentation</dc:subject>
  <dc:creator>PptxGenJS</dc:creator>
  <cp:lastModifiedBy>PptxGenJS</cp:lastModifiedBy>
  <cp:revision>1</cp:revision>
  <dcterms:created xsi:type="dcterms:W3CDTF">2026-05-08T04:50:49Z</dcterms:created>
  <dcterms:modified xsi:type="dcterms:W3CDTF">2026-05-08T04:50:49Z</dcterms:modified>
</cp:coreProperties>
</file>